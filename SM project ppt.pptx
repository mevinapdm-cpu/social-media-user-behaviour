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56" r:id="rId2"/>
    <p:sldId id="26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vinapdm@gmail.com" userId="3bd96f3e7e5f608d" providerId="LiveId" clId="{FBC752AE-C1ED-48BA-92BE-B2287487F4F7}"/>
    <pc:docChg chg="modSld sldOrd">
      <pc:chgData name="mevinapdm@gmail.com" userId="3bd96f3e7e5f608d" providerId="LiveId" clId="{FBC752AE-C1ED-48BA-92BE-B2287487F4F7}" dt="2026-01-14T08:25:48.897" v="2" actId="123"/>
      <pc:docMkLst>
        <pc:docMk/>
      </pc:docMkLst>
      <pc:sldChg chg="ord">
        <pc:chgData name="mevinapdm@gmail.com" userId="3bd96f3e7e5f608d" providerId="LiveId" clId="{FBC752AE-C1ED-48BA-92BE-B2287487F4F7}" dt="2026-01-14T07:02:43.612" v="1"/>
        <pc:sldMkLst>
          <pc:docMk/>
          <pc:sldMk cId="1951875279" sldId="266"/>
        </pc:sldMkLst>
      </pc:sldChg>
      <pc:sldChg chg="modSp mod">
        <pc:chgData name="mevinapdm@gmail.com" userId="3bd96f3e7e5f608d" providerId="LiveId" clId="{FBC752AE-C1ED-48BA-92BE-B2287487F4F7}" dt="2026-01-14T08:25:48.897" v="2" actId="123"/>
        <pc:sldMkLst>
          <pc:docMk/>
          <pc:sldMk cId="1396379602" sldId="267"/>
        </pc:sldMkLst>
        <pc:spChg chg="mod">
          <ac:chgData name="mevinapdm@gmail.com" userId="3bd96f3e7e5f608d" providerId="LiveId" clId="{FBC752AE-C1ED-48BA-92BE-B2287487F4F7}" dt="2026-01-14T08:25:48.897" v="2" actId="123"/>
          <ac:spMkLst>
            <pc:docMk/>
            <pc:sldMk cId="1396379602" sldId="267"/>
            <ac:spMk id="3" creationId="{1A6E3F86-0412-C170-F7A5-06E981904D0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1/14/2026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rIns="45720"/>
          <a:lstStyle/>
          <a:p>
            <a:fld id="{6D22F896-40B5-4ADD-8801-0D06FADFA095}" type="slidenum">
              <a:rPr lang="en-US" smtClean="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567840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1/14/2026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73103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1/14/2026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9969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1/14/2026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609799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1/14/2026</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40009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1/14/2026</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1100270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smtClean="0"/>
              <a:t>1/14/2026</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2399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1/14/2026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49467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1/14/2026</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7176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1/14/2026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46073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1/14/2026</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11490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smtClean="0"/>
              <a:t>1/14/2026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endParaRPr lang="en-US" dirty="0"/>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smtClean="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1952646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extLst>
              <a:ext uri="{BEBA8EAE-BF5A-486C-A8C5-ECC9F3942E4B}">
                <a14:imgProps xmlns:a14="http://schemas.microsoft.com/office/drawing/2010/main">
                  <a14:imgLayer r:embed="rId3">
                    <a14:imgEffect>
                      <a14:saturation sat="0"/>
                    </a14:imgEffect>
                  </a14:imgLayer>
                </a14:imgProps>
              </a:ext>
            </a:extLst>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ABA1C-D937-CEEC-A474-C791AF16E08A}"/>
              </a:ext>
            </a:extLst>
          </p:cNvPr>
          <p:cNvSpPr>
            <a:spLocks noGrp="1"/>
          </p:cNvSpPr>
          <p:nvPr>
            <p:ph type="title"/>
          </p:nvPr>
        </p:nvSpPr>
        <p:spPr>
          <a:xfrm>
            <a:off x="1360714" y="2852057"/>
            <a:ext cx="4735286" cy="2275115"/>
          </a:xfrm>
        </p:spPr>
        <p:txBody>
          <a:bodyPr>
            <a:normAutofit/>
          </a:bodyPr>
          <a:lstStyle/>
          <a:p>
            <a:r>
              <a:rPr lang="en-US" sz="4000" b="1" dirty="0">
                <a:solidFill>
                  <a:schemeClr val="tx2">
                    <a:lumMod val="75000"/>
                  </a:schemeClr>
                </a:solidFill>
                <a:latin typeface="Cambria Math" panose="02040503050406030204" pitchFamily="18" charset="0"/>
                <a:ea typeface="Cambria Math" panose="02040503050406030204" pitchFamily="18" charset="0"/>
              </a:rPr>
              <a:t>PREDICTION OF SOCIAL MEDIA USER BEHAVIOR </a:t>
            </a:r>
            <a:br>
              <a:rPr lang="en-US" sz="2800" dirty="0">
                <a:solidFill>
                  <a:schemeClr val="tx2">
                    <a:lumMod val="75000"/>
                  </a:schemeClr>
                </a:solidFill>
                <a:latin typeface="Cambria Math" panose="02040503050406030204" pitchFamily="18" charset="0"/>
                <a:ea typeface="Cambria Math" panose="02040503050406030204" pitchFamily="18" charset="0"/>
              </a:rPr>
            </a:br>
            <a:endParaRPr lang="en-IN" sz="2700" b="1" dirty="0">
              <a:solidFill>
                <a:schemeClr val="tx2">
                  <a:lumMod val="75000"/>
                </a:schemeClr>
              </a:solidFill>
              <a:latin typeface="Cambria Math" panose="02040503050406030204" pitchFamily="18" charset="0"/>
              <a:ea typeface="Cambria Math" panose="02040503050406030204" pitchFamily="18" charset="0"/>
            </a:endParaRPr>
          </a:p>
        </p:txBody>
      </p:sp>
      <p:pic>
        <p:nvPicPr>
          <p:cNvPr id="6" name="Content Placeholder 5" descr="A screens with icons and symbols&#10;&#10;AI-generated content may be incorrect.">
            <a:extLst>
              <a:ext uri="{FF2B5EF4-FFF2-40B4-BE49-F238E27FC236}">
                <a16:creationId xmlns:a16="http://schemas.microsoft.com/office/drawing/2014/main" id="{49B462CB-B8DC-A240-4F51-DF79CC1A2A14}"/>
              </a:ext>
            </a:extLst>
          </p:cNvPr>
          <p:cNvPicPr>
            <a:picLocks noGrp="1" noChangeAspect="1"/>
          </p:cNvPicPr>
          <p:nvPr>
            <p:ph idx="1"/>
          </p:nvPr>
        </p:nvPicPr>
        <p:blipFill>
          <a:blip r:embed="rId4"/>
          <a:stretch>
            <a:fillRect/>
          </a:stretch>
        </p:blipFill>
        <p:spPr>
          <a:xfrm>
            <a:off x="6096000" y="200251"/>
            <a:ext cx="5203371" cy="3997325"/>
          </a:xfrm>
          <a:effectLst>
            <a:outerShdw dist="50800" sx="1000" sy="1000" algn="ctr" rotWithShape="0">
              <a:srgbClr val="000000">
                <a:alpha val="94000"/>
              </a:srgbClr>
            </a:outerShdw>
            <a:reflection stA="0" endPos="0" dist="165100" dir="5400000" sy="-100000" algn="bl" rotWithShape="0"/>
            <a:softEdge rad="457200"/>
          </a:effectLst>
        </p:spPr>
      </p:pic>
    </p:spTree>
    <p:extLst>
      <p:ext uri="{BB962C8B-B14F-4D97-AF65-F5344CB8AC3E}">
        <p14:creationId xmlns:p14="http://schemas.microsoft.com/office/powerpoint/2010/main" val="29767435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8E082-034D-8365-1BB6-A07B188286C7}"/>
              </a:ext>
            </a:extLst>
          </p:cNvPr>
          <p:cNvSpPr>
            <a:spLocks noGrp="1"/>
          </p:cNvSpPr>
          <p:nvPr>
            <p:ph type="title"/>
          </p:nvPr>
        </p:nvSpPr>
        <p:spPr/>
        <p:txBody>
          <a:bodyPr>
            <a:normAutofit/>
          </a:bodyPr>
          <a:lstStyle/>
          <a:p>
            <a:pPr algn="l"/>
            <a:r>
              <a:rPr lang="en-US" sz="2400" b="1" dirty="0">
                <a:solidFill>
                  <a:schemeClr val="tx2">
                    <a:lumMod val="75000"/>
                  </a:schemeClr>
                </a:solidFill>
                <a:latin typeface="Cambria Math" panose="02040503050406030204" pitchFamily="18" charset="0"/>
                <a:ea typeface="Cambria Math" panose="02040503050406030204" pitchFamily="18" charset="0"/>
              </a:rPr>
              <a:t>INTRODUCTION</a:t>
            </a:r>
            <a:endParaRPr lang="en-IN" sz="2400" b="1" dirty="0">
              <a:solidFill>
                <a:schemeClr val="tx2">
                  <a:lumMod val="75000"/>
                </a:schemeClr>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1A6E3F86-0412-C170-F7A5-06E981904D0C}"/>
              </a:ext>
            </a:extLst>
          </p:cNvPr>
          <p:cNvSpPr>
            <a:spLocks noGrp="1"/>
          </p:cNvSpPr>
          <p:nvPr>
            <p:ph idx="1"/>
          </p:nvPr>
        </p:nvSpPr>
        <p:spPr>
          <a:xfrm>
            <a:off x="2177143" y="1404257"/>
            <a:ext cx="8392996" cy="4645687"/>
          </a:xfrm>
        </p:spPr>
        <p:txBody>
          <a:bodyPr/>
          <a:lstStyle/>
          <a:p>
            <a:pPr marL="0" indent="0" algn="just">
              <a:buNone/>
            </a:pPr>
            <a:r>
              <a:rPr lang="en-US" sz="2400" dirty="0">
                <a:solidFill>
                  <a:schemeClr val="accent3">
                    <a:lumMod val="40000"/>
                    <a:lumOff val="60000"/>
                  </a:schemeClr>
                </a:solidFill>
              </a:rPr>
              <a:t>Users spend different amounts of time on various social media platforms depending on their primary usage, type of content, country, and platform features. Understanding and predicting the Daily Time Spent helps platforms improve user engagement and businesses optimize digital marketing strategies.</a:t>
            </a:r>
            <a:endParaRPr lang="en-IN" sz="2400" dirty="0">
              <a:solidFill>
                <a:schemeClr val="accent3">
                  <a:lumMod val="40000"/>
                  <a:lumOff val="60000"/>
                </a:schemeClr>
              </a:solidFill>
            </a:endParaRPr>
          </a:p>
          <a:p>
            <a:endParaRPr lang="en-IN" dirty="0"/>
          </a:p>
        </p:txBody>
      </p:sp>
    </p:spTree>
    <p:extLst>
      <p:ext uri="{BB962C8B-B14F-4D97-AF65-F5344CB8AC3E}">
        <p14:creationId xmlns:p14="http://schemas.microsoft.com/office/powerpoint/2010/main" val="1396379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FB73C6-C319-CB74-F65C-16D11CDEE7EF}"/>
              </a:ext>
            </a:extLst>
          </p:cNvPr>
          <p:cNvSpPr txBox="1"/>
          <p:nvPr/>
        </p:nvSpPr>
        <p:spPr>
          <a:xfrm>
            <a:off x="2348594" y="1061358"/>
            <a:ext cx="6082393" cy="5262979"/>
          </a:xfrm>
          <a:prstGeom prst="rect">
            <a:avLst/>
          </a:prstGeom>
          <a:noFill/>
        </p:spPr>
        <p:txBody>
          <a:bodyPr wrap="square">
            <a:spAutoFit/>
          </a:bodyPr>
          <a:lstStyle/>
          <a:p>
            <a:r>
              <a:rPr lang="en-US" sz="2400" b="1" dirty="0">
                <a:solidFill>
                  <a:schemeClr val="tx2">
                    <a:lumMod val="75000"/>
                  </a:schemeClr>
                </a:solidFill>
                <a:latin typeface="Californian FB" panose="0207040306080B030204" pitchFamily="18" charset="0"/>
              </a:rPr>
              <a:t>O</a:t>
            </a:r>
            <a:r>
              <a:rPr lang="en-IN" sz="2400" b="1" dirty="0">
                <a:solidFill>
                  <a:schemeClr val="tx2">
                    <a:lumMod val="75000"/>
                  </a:schemeClr>
                </a:solidFill>
                <a:latin typeface="Californian FB" panose="0207040306080B030204" pitchFamily="18" charset="0"/>
              </a:rPr>
              <a:t>BJECTIVES</a:t>
            </a:r>
          </a:p>
          <a:p>
            <a:pPr marL="342900" indent="-342900">
              <a:buFont typeface="Arial" panose="020B0604020202020204" pitchFamily="34" charset="0"/>
              <a:buChar char="•"/>
            </a:pPr>
            <a:endParaRPr lang="en-US" sz="2400" dirty="0">
              <a:solidFill>
                <a:schemeClr val="accent2">
                  <a:lumMod val="40000"/>
                  <a:lumOff val="60000"/>
                </a:schemeClr>
              </a:solidFill>
            </a:endParaRPr>
          </a:p>
          <a:p>
            <a:pPr marL="342900" indent="-342900">
              <a:buFont typeface="Arial" panose="020B0604020202020204" pitchFamily="34" charset="0"/>
              <a:buChar char="•"/>
            </a:pPr>
            <a:r>
              <a:rPr lang="en-US" sz="2400" dirty="0">
                <a:solidFill>
                  <a:schemeClr val="accent3">
                    <a:lumMod val="40000"/>
                    <a:lumOff val="60000"/>
                  </a:schemeClr>
                </a:solidFill>
              </a:rPr>
              <a:t>To preprocess and clean social media user data</a:t>
            </a:r>
          </a:p>
          <a:p>
            <a:pPr marL="342900" indent="-342900">
              <a:buFont typeface="Arial" panose="020B0604020202020204" pitchFamily="34" charset="0"/>
              <a:buChar char="•"/>
            </a:pPr>
            <a:r>
              <a:rPr lang="en-US" sz="2400" dirty="0">
                <a:solidFill>
                  <a:schemeClr val="accent3">
                    <a:lumMod val="40000"/>
                    <a:lumOff val="60000"/>
                  </a:schemeClr>
                </a:solidFill>
              </a:rPr>
              <a:t>To visualize important patterns in the dataset</a:t>
            </a:r>
          </a:p>
          <a:p>
            <a:pPr marL="342900" indent="-342900">
              <a:buFont typeface="Arial" panose="020B0604020202020204" pitchFamily="34" charset="0"/>
              <a:buChar char="•"/>
            </a:pPr>
            <a:r>
              <a:rPr lang="en-US" sz="2400" dirty="0">
                <a:solidFill>
                  <a:schemeClr val="accent3">
                    <a:lumMod val="40000"/>
                    <a:lumOff val="60000"/>
                  </a:schemeClr>
                </a:solidFill>
              </a:rPr>
              <a:t>To build and compare machine learning models</a:t>
            </a:r>
          </a:p>
          <a:p>
            <a:pPr marL="342900" indent="-342900">
              <a:buFont typeface="Arial" panose="020B0604020202020204" pitchFamily="34" charset="0"/>
              <a:buChar char="•"/>
            </a:pPr>
            <a:r>
              <a:rPr lang="en-US" sz="2400" dirty="0">
                <a:solidFill>
                  <a:schemeClr val="accent3">
                    <a:lumMod val="40000"/>
                    <a:lumOff val="60000"/>
                  </a:schemeClr>
                </a:solidFill>
              </a:rPr>
              <a:t>To evaluate model performance using accuracy and cross-validation</a:t>
            </a:r>
          </a:p>
          <a:p>
            <a:pPr marL="342900" indent="-342900">
              <a:buFont typeface="Arial" panose="020B0604020202020204" pitchFamily="34" charset="0"/>
              <a:buChar char="•"/>
            </a:pPr>
            <a:r>
              <a:rPr lang="en-US" sz="2400" dirty="0">
                <a:solidFill>
                  <a:schemeClr val="accent3">
                    <a:lumMod val="40000"/>
                    <a:lumOff val="60000"/>
                  </a:schemeClr>
                </a:solidFill>
              </a:rPr>
              <a:t>To save the trained model for future use</a:t>
            </a:r>
          </a:p>
          <a:p>
            <a:pPr marL="342900" indent="-342900">
              <a:buFont typeface="Arial" panose="020B0604020202020204" pitchFamily="34" charset="0"/>
              <a:buChar char="•"/>
            </a:pPr>
            <a:r>
              <a:rPr lang="en-US" sz="2400" dirty="0">
                <a:solidFill>
                  <a:schemeClr val="accent3">
                    <a:lumMod val="40000"/>
                    <a:lumOff val="60000"/>
                  </a:schemeClr>
                </a:solidFill>
              </a:rPr>
              <a:t>To implement a user input prediction system</a:t>
            </a:r>
          </a:p>
          <a:p>
            <a:endParaRPr lang="en-IN" sz="2400" dirty="0">
              <a:solidFill>
                <a:schemeClr val="accent3">
                  <a:lumMod val="40000"/>
                  <a:lumOff val="60000"/>
                </a:schemeClr>
              </a:solidFill>
              <a:latin typeface="Californian FB" panose="0207040306080B030204" pitchFamily="18" charset="0"/>
            </a:endParaRPr>
          </a:p>
        </p:txBody>
      </p:sp>
    </p:spTree>
    <p:extLst>
      <p:ext uri="{BB962C8B-B14F-4D97-AF65-F5344CB8AC3E}">
        <p14:creationId xmlns:p14="http://schemas.microsoft.com/office/powerpoint/2010/main" val="1834500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FF77CB-6FCF-CEEF-CFB2-62C14FEA0FF2}"/>
              </a:ext>
            </a:extLst>
          </p:cNvPr>
          <p:cNvSpPr txBox="1"/>
          <p:nvPr/>
        </p:nvSpPr>
        <p:spPr>
          <a:xfrm>
            <a:off x="2299608" y="955223"/>
            <a:ext cx="7813222" cy="461665"/>
          </a:xfrm>
          <a:prstGeom prst="rect">
            <a:avLst/>
          </a:prstGeom>
          <a:noFill/>
        </p:spPr>
        <p:txBody>
          <a:bodyPr wrap="square" rtlCol="0">
            <a:spAutoFit/>
          </a:bodyPr>
          <a:lstStyle/>
          <a:p>
            <a:r>
              <a:rPr lang="en-US" sz="2400" b="1" dirty="0">
                <a:solidFill>
                  <a:schemeClr val="tx2">
                    <a:lumMod val="75000"/>
                  </a:schemeClr>
                </a:solidFill>
                <a:latin typeface="Cambria Math" panose="02040503050406030204" pitchFamily="18" charset="0"/>
                <a:ea typeface="Cambria Math" panose="02040503050406030204" pitchFamily="18" charset="0"/>
              </a:rPr>
              <a:t>DATASET DESCRIPTION</a:t>
            </a:r>
            <a:endParaRPr lang="en-IN" sz="2400" b="1" dirty="0">
              <a:solidFill>
                <a:schemeClr val="tx2">
                  <a:lumMod val="75000"/>
                </a:schemeClr>
              </a:solidFill>
              <a:latin typeface="Cambria Math" panose="02040503050406030204" pitchFamily="18" charset="0"/>
              <a:ea typeface="Cambria Math" panose="02040503050406030204" pitchFamily="18" charset="0"/>
            </a:endParaRPr>
          </a:p>
        </p:txBody>
      </p:sp>
      <p:sp>
        <p:nvSpPr>
          <p:cNvPr id="3" name="TextBox 2">
            <a:extLst>
              <a:ext uri="{FF2B5EF4-FFF2-40B4-BE49-F238E27FC236}">
                <a16:creationId xmlns:a16="http://schemas.microsoft.com/office/drawing/2014/main" id="{846EBA2A-B522-DC29-27A9-75B9A4FBFFF6}"/>
              </a:ext>
            </a:extLst>
          </p:cNvPr>
          <p:cNvSpPr txBox="1"/>
          <p:nvPr/>
        </p:nvSpPr>
        <p:spPr>
          <a:xfrm>
            <a:off x="2299608" y="1314450"/>
            <a:ext cx="7698921" cy="3416320"/>
          </a:xfrm>
          <a:prstGeom prst="rect">
            <a:avLst/>
          </a:prstGeom>
          <a:noFill/>
        </p:spPr>
        <p:txBody>
          <a:bodyPr wrap="square" rtlCol="0">
            <a:spAutoFit/>
          </a:bodyPr>
          <a:lstStyle/>
          <a:p>
            <a:pPr marL="342900" indent="-342900">
              <a:buFont typeface="Arial" panose="020B0604020202020204" pitchFamily="34" charset="0"/>
              <a:buChar char="•"/>
            </a:pPr>
            <a:endParaRPr lang="en-US" sz="2400" dirty="0">
              <a:solidFill>
                <a:schemeClr val="accent3">
                  <a:lumMod val="60000"/>
                  <a:lumOff val="40000"/>
                </a:schemeClr>
              </a:solidFill>
            </a:endParaRPr>
          </a:p>
          <a:p>
            <a:pPr marL="342900" indent="-342900">
              <a:buFont typeface="Arial" panose="020B0604020202020204" pitchFamily="34" charset="0"/>
              <a:buChar char="•"/>
            </a:pPr>
            <a:r>
              <a:rPr lang="en-US" sz="2400" dirty="0">
                <a:solidFill>
                  <a:schemeClr val="accent3">
                    <a:lumMod val="40000"/>
                    <a:lumOff val="60000"/>
                  </a:schemeClr>
                </a:solidFill>
              </a:rPr>
              <a:t>To build a Machine Learning model that predicts the Daily Time Spent (in minutes) based on:</a:t>
            </a:r>
          </a:p>
          <a:p>
            <a:pPr marL="342900" indent="-342900">
              <a:buFont typeface="Arial" panose="020B0604020202020204" pitchFamily="34" charset="0"/>
              <a:buChar char="•"/>
            </a:pPr>
            <a:r>
              <a:rPr lang="en-US" sz="2400" dirty="0">
                <a:solidFill>
                  <a:schemeClr val="accent3">
                    <a:lumMod val="40000"/>
                    <a:lumOff val="60000"/>
                  </a:schemeClr>
                </a:solidFill>
              </a:rPr>
              <a:t>Platform</a:t>
            </a:r>
          </a:p>
          <a:p>
            <a:pPr marL="342900" indent="-342900">
              <a:buFont typeface="Arial" panose="020B0604020202020204" pitchFamily="34" charset="0"/>
              <a:buChar char="•"/>
            </a:pPr>
            <a:r>
              <a:rPr lang="en-US" sz="2400" dirty="0">
                <a:solidFill>
                  <a:schemeClr val="accent3">
                    <a:lumMod val="40000"/>
                    <a:lumOff val="60000"/>
                  </a:schemeClr>
                </a:solidFill>
              </a:rPr>
              <a:t>Owner</a:t>
            </a:r>
          </a:p>
          <a:p>
            <a:pPr marL="342900" indent="-342900">
              <a:buFont typeface="Arial" panose="020B0604020202020204" pitchFamily="34" charset="0"/>
              <a:buChar char="•"/>
            </a:pPr>
            <a:r>
              <a:rPr lang="en-US" sz="2400" dirty="0">
                <a:solidFill>
                  <a:schemeClr val="accent3">
                    <a:lumMod val="40000"/>
                    <a:lumOff val="60000"/>
                  </a:schemeClr>
                </a:solidFill>
              </a:rPr>
              <a:t>Primary Usage</a:t>
            </a:r>
          </a:p>
          <a:p>
            <a:pPr marL="342900" indent="-342900">
              <a:buFont typeface="Arial" panose="020B0604020202020204" pitchFamily="34" charset="0"/>
              <a:buChar char="•"/>
            </a:pPr>
            <a:r>
              <a:rPr lang="en-US" sz="2400" dirty="0">
                <a:solidFill>
                  <a:schemeClr val="accent3">
                    <a:lumMod val="40000"/>
                    <a:lumOff val="60000"/>
                  </a:schemeClr>
                </a:solidFill>
              </a:rPr>
              <a:t>Country</a:t>
            </a:r>
          </a:p>
          <a:p>
            <a:pPr marL="342900" indent="-342900">
              <a:buFont typeface="Arial" panose="020B0604020202020204" pitchFamily="34" charset="0"/>
              <a:buChar char="•"/>
            </a:pPr>
            <a:r>
              <a:rPr lang="en-US" sz="2400" dirty="0">
                <a:solidFill>
                  <a:schemeClr val="accent3">
                    <a:lumMod val="40000"/>
                    <a:lumOff val="60000"/>
                  </a:schemeClr>
                </a:solidFill>
              </a:rPr>
              <a:t>Verified account status</a:t>
            </a:r>
          </a:p>
          <a:p>
            <a:pPr marL="342900" indent="-342900">
              <a:buFont typeface="Arial" panose="020B0604020202020204" pitchFamily="34" charset="0"/>
              <a:buChar char="•"/>
            </a:pPr>
            <a:r>
              <a:rPr lang="en-US" sz="2400" dirty="0">
                <a:solidFill>
                  <a:schemeClr val="accent3">
                    <a:lumMod val="40000"/>
                    <a:lumOff val="60000"/>
                  </a:schemeClr>
                </a:solidFill>
              </a:rPr>
              <a:t>Date joined</a:t>
            </a:r>
            <a:endParaRPr lang="en-IN" sz="2400" dirty="0">
              <a:solidFill>
                <a:schemeClr val="accent3">
                  <a:lumMod val="40000"/>
                  <a:lumOff val="60000"/>
                </a:schemeClr>
              </a:solidFill>
            </a:endParaRPr>
          </a:p>
        </p:txBody>
      </p:sp>
    </p:spTree>
    <p:extLst>
      <p:ext uri="{BB962C8B-B14F-4D97-AF65-F5344CB8AC3E}">
        <p14:creationId xmlns:p14="http://schemas.microsoft.com/office/powerpoint/2010/main" val="3780966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8A09B1-B57C-9D97-1E69-AB3C7078E9F6}"/>
              </a:ext>
            </a:extLst>
          </p:cNvPr>
          <p:cNvSpPr txBox="1"/>
          <p:nvPr/>
        </p:nvSpPr>
        <p:spPr>
          <a:xfrm>
            <a:off x="2315936" y="857251"/>
            <a:ext cx="6874328" cy="3508653"/>
          </a:xfrm>
          <a:prstGeom prst="rect">
            <a:avLst/>
          </a:prstGeom>
          <a:noFill/>
        </p:spPr>
        <p:txBody>
          <a:bodyPr wrap="square" rtlCol="0">
            <a:spAutoFit/>
          </a:bodyPr>
          <a:lstStyle/>
          <a:p>
            <a:endParaRPr lang="en-IN" sz="2700" b="1" dirty="0">
              <a:solidFill>
                <a:schemeClr val="tx2">
                  <a:lumMod val="75000"/>
                </a:schemeClr>
              </a:solidFill>
              <a:latin typeface="Cambria Math" panose="02040503050406030204" pitchFamily="18" charset="0"/>
              <a:ea typeface="Cambria Math" panose="02040503050406030204" pitchFamily="18" charset="0"/>
            </a:endParaRPr>
          </a:p>
          <a:p>
            <a:r>
              <a:rPr lang="en-IN" sz="2700" b="1" dirty="0">
                <a:solidFill>
                  <a:schemeClr val="tx2">
                    <a:lumMod val="75000"/>
                  </a:schemeClr>
                </a:solidFill>
                <a:latin typeface="Cambria Math" panose="02040503050406030204" pitchFamily="18" charset="0"/>
                <a:ea typeface="Cambria Math" panose="02040503050406030204" pitchFamily="18" charset="0"/>
              </a:rPr>
              <a:t>TOOLS AND TECHNOLOGIES</a:t>
            </a:r>
          </a:p>
          <a:p>
            <a:endParaRPr lang="en-IN" sz="2400" dirty="0">
              <a:solidFill>
                <a:schemeClr val="accent3">
                  <a:lumMod val="40000"/>
                  <a:lumOff val="60000"/>
                </a:schemeClr>
              </a:solidFill>
            </a:endParaRPr>
          </a:p>
          <a:p>
            <a:pPr marL="342900" indent="-342900">
              <a:buFont typeface="Arial" panose="020B0604020202020204" pitchFamily="34" charset="0"/>
              <a:buChar char="•"/>
            </a:pPr>
            <a:r>
              <a:rPr lang="en-IN" sz="2400" dirty="0">
                <a:solidFill>
                  <a:schemeClr val="accent3">
                    <a:lumMod val="40000"/>
                    <a:lumOff val="60000"/>
                  </a:schemeClr>
                </a:solidFill>
              </a:rPr>
              <a:t>Python</a:t>
            </a:r>
          </a:p>
          <a:p>
            <a:pPr marL="342900" indent="-342900">
              <a:buFont typeface="Arial" panose="020B0604020202020204" pitchFamily="34" charset="0"/>
              <a:buChar char="•"/>
            </a:pPr>
            <a:r>
              <a:rPr lang="en-IN" sz="2400" dirty="0" err="1">
                <a:solidFill>
                  <a:schemeClr val="accent3">
                    <a:lumMod val="40000"/>
                    <a:lumOff val="60000"/>
                  </a:schemeClr>
                </a:solidFill>
              </a:rPr>
              <a:t>Jupyter</a:t>
            </a:r>
            <a:r>
              <a:rPr lang="en-IN" sz="2400" dirty="0">
                <a:solidFill>
                  <a:schemeClr val="accent3">
                    <a:lumMod val="40000"/>
                    <a:lumOff val="60000"/>
                  </a:schemeClr>
                </a:solidFill>
              </a:rPr>
              <a:t> Notebook</a:t>
            </a:r>
          </a:p>
          <a:p>
            <a:pPr marL="342900" indent="-342900">
              <a:buFont typeface="Arial" panose="020B0604020202020204" pitchFamily="34" charset="0"/>
              <a:buChar char="•"/>
            </a:pPr>
            <a:r>
              <a:rPr lang="en-IN" sz="2400" dirty="0">
                <a:solidFill>
                  <a:schemeClr val="accent3">
                    <a:lumMod val="40000"/>
                    <a:lumOff val="60000"/>
                  </a:schemeClr>
                </a:solidFill>
              </a:rPr>
              <a:t>Pandas, NumPy</a:t>
            </a:r>
          </a:p>
          <a:p>
            <a:pPr marL="342900" indent="-342900">
              <a:buFont typeface="Arial" panose="020B0604020202020204" pitchFamily="34" charset="0"/>
              <a:buChar char="•"/>
            </a:pPr>
            <a:r>
              <a:rPr lang="en-IN" sz="2400" dirty="0">
                <a:solidFill>
                  <a:schemeClr val="accent3">
                    <a:lumMod val="40000"/>
                    <a:lumOff val="60000"/>
                  </a:schemeClr>
                </a:solidFill>
              </a:rPr>
              <a:t>Matplotlib / Seaborn</a:t>
            </a:r>
          </a:p>
          <a:p>
            <a:pPr marL="342900" indent="-342900">
              <a:buFont typeface="Arial" panose="020B0604020202020204" pitchFamily="34" charset="0"/>
              <a:buChar char="•"/>
            </a:pPr>
            <a:r>
              <a:rPr lang="en-IN" sz="2400" dirty="0">
                <a:solidFill>
                  <a:schemeClr val="accent3">
                    <a:lumMod val="40000"/>
                    <a:lumOff val="60000"/>
                  </a:schemeClr>
                </a:solidFill>
              </a:rPr>
              <a:t>Scikit-learn</a:t>
            </a:r>
          </a:p>
          <a:p>
            <a:pPr marL="214313" indent="-214313">
              <a:buFont typeface="Arial" panose="020B0604020202020204" pitchFamily="34" charset="0"/>
              <a:buChar char="•"/>
            </a:pPr>
            <a:endParaRPr lang="en-IN" sz="2400" dirty="0">
              <a:solidFill>
                <a:schemeClr val="accent3">
                  <a:lumMod val="40000"/>
                  <a:lumOff val="60000"/>
                </a:schemeClr>
              </a:solidFill>
            </a:endParaRPr>
          </a:p>
        </p:txBody>
      </p:sp>
    </p:spTree>
    <p:extLst>
      <p:ext uri="{BB962C8B-B14F-4D97-AF65-F5344CB8AC3E}">
        <p14:creationId xmlns:p14="http://schemas.microsoft.com/office/powerpoint/2010/main" val="3803233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E6D4FB-9094-7420-6ADD-8BAE16275EE2}"/>
              </a:ext>
            </a:extLst>
          </p:cNvPr>
          <p:cNvSpPr txBox="1"/>
          <p:nvPr/>
        </p:nvSpPr>
        <p:spPr>
          <a:xfrm>
            <a:off x="2315936" y="857251"/>
            <a:ext cx="7609115" cy="461665"/>
          </a:xfrm>
          <a:prstGeom prst="rect">
            <a:avLst/>
          </a:prstGeom>
          <a:noFill/>
        </p:spPr>
        <p:txBody>
          <a:bodyPr wrap="square" rtlCol="0">
            <a:spAutoFit/>
          </a:bodyPr>
          <a:lstStyle/>
          <a:p>
            <a:r>
              <a:rPr lang="en-US" sz="2400" b="1" dirty="0">
                <a:solidFill>
                  <a:schemeClr val="tx2">
                    <a:lumMod val="75000"/>
                  </a:schemeClr>
                </a:solidFill>
                <a:latin typeface="Cambria Math" panose="02040503050406030204" pitchFamily="18" charset="0"/>
                <a:ea typeface="Cambria Math" panose="02040503050406030204" pitchFamily="18" charset="0"/>
              </a:rPr>
              <a:t>EXPLORATORY DATA ANALYSIS</a:t>
            </a:r>
            <a:endParaRPr lang="en-IN" sz="2400" b="1" dirty="0">
              <a:solidFill>
                <a:schemeClr val="tx2">
                  <a:lumMod val="75000"/>
                </a:schemeClr>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E2277214-135D-80E1-999F-FF9E5E6EBAAA}"/>
              </a:ext>
            </a:extLst>
          </p:cNvPr>
          <p:cNvSpPr txBox="1"/>
          <p:nvPr/>
        </p:nvSpPr>
        <p:spPr>
          <a:xfrm>
            <a:off x="2315936" y="1485900"/>
            <a:ext cx="7682592" cy="4154984"/>
          </a:xfrm>
          <a:prstGeom prst="rect">
            <a:avLst/>
          </a:prstGeom>
          <a:noFill/>
        </p:spPr>
        <p:txBody>
          <a:bodyPr wrap="square" rtlCol="0">
            <a:spAutoFit/>
          </a:bodyPr>
          <a:lstStyle/>
          <a:p>
            <a:r>
              <a:rPr lang="en-US" sz="2400" dirty="0">
                <a:solidFill>
                  <a:schemeClr val="accent3">
                    <a:lumMod val="40000"/>
                    <a:lumOff val="60000"/>
                  </a:schemeClr>
                </a:solidFill>
              </a:rPr>
              <a:t>The dataset consists of social media user-related attributes such as usage time, activity patterns, and user behavior indicators. These features are used as independent variables, while the primary usage or target behavior is used as the dependent variable.</a:t>
            </a:r>
          </a:p>
          <a:p>
            <a:endParaRPr lang="en-US" sz="2400" b="1" dirty="0">
              <a:solidFill>
                <a:schemeClr val="accent3">
                  <a:lumMod val="40000"/>
                  <a:lumOff val="60000"/>
                </a:schemeClr>
              </a:solidFill>
            </a:endParaRPr>
          </a:p>
          <a:p>
            <a:r>
              <a:rPr lang="en-US" sz="2400" b="1" dirty="0">
                <a:solidFill>
                  <a:schemeClr val="accent3">
                    <a:lumMod val="40000"/>
                    <a:lumOff val="60000"/>
                  </a:schemeClr>
                </a:solidFill>
              </a:rPr>
              <a:t>Dataset Features Include:</a:t>
            </a:r>
            <a:endParaRPr lang="en-US" sz="2400" dirty="0">
              <a:solidFill>
                <a:schemeClr val="accent3">
                  <a:lumMod val="40000"/>
                  <a:lumOff val="60000"/>
                </a:schemeClr>
              </a:solidFill>
            </a:endParaRPr>
          </a:p>
          <a:p>
            <a:pPr marL="342900" indent="-342900">
              <a:buFont typeface="Arial" panose="020B0604020202020204" pitchFamily="34" charset="0"/>
              <a:buChar char="•"/>
            </a:pPr>
            <a:r>
              <a:rPr lang="en-US" sz="2400" dirty="0">
                <a:solidFill>
                  <a:schemeClr val="accent3">
                    <a:lumMod val="40000"/>
                    <a:lumOff val="60000"/>
                  </a:schemeClr>
                </a:solidFill>
              </a:rPr>
              <a:t>User activity attributes</a:t>
            </a:r>
          </a:p>
          <a:p>
            <a:pPr marL="342900" indent="-342900">
              <a:buFont typeface="Arial" panose="020B0604020202020204" pitchFamily="34" charset="0"/>
              <a:buChar char="•"/>
            </a:pPr>
            <a:r>
              <a:rPr lang="en-US" sz="2400" dirty="0">
                <a:solidFill>
                  <a:schemeClr val="accent3">
                    <a:lumMod val="40000"/>
                    <a:lumOff val="60000"/>
                  </a:schemeClr>
                </a:solidFill>
              </a:rPr>
              <a:t>Time spent on social media</a:t>
            </a:r>
          </a:p>
          <a:p>
            <a:pPr marL="342900" indent="-342900">
              <a:buFont typeface="Arial" panose="020B0604020202020204" pitchFamily="34" charset="0"/>
              <a:buChar char="•"/>
            </a:pPr>
            <a:r>
              <a:rPr lang="en-US" sz="2400" dirty="0">
                <a:solidFill>
                  <a:schemeClr val="accent3">
                    <a:lumMod val="40000"/>
                    <a:lumOff val="60000"/>
                  </a:schemeClr>
                </a:solidFill>
              </a:rPr>
              <a:t>Usage category / primary usage (Target Column)</a:t>
            </a:r>
          </a:p>
          <a:p>
            <a:endParaRPr lang="en-IN" sz="2400" dirty="0"/>
          </a:p>
        </p:txBody>
      </p:sp>
    </p:spTree>
    <p:extLst>
      <p:ext uri="{BB962C8B-B14F-4D97-AF65-F5344CB8AC3E}">
        <p14:creationId xmlns:p14="http://schemas.microsoft.com/office/powerpoint/2010/main" val="446772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6C83CC-9533-EB0F-FFF8-A8C7AC97175F}"/>
              </a:ext>
            </a:extLst>
          </p:cNvPr>
          <p:cNvSpPr txBox="1"/>
          <p:nvPr/>
        </p:nvSpPr>
        <p:spPr>
          <a:xfrm>
            <a:off x="2234293" y="1224644"/>
            <a:ext cx="7707086" cy="3993401"/>
          </a:xfrm>
          <a:prstGeom prst="rect">
            <a:avLst/>
          </a:prstGeom>
          <a:noFill/>
        </p:spPr>
        <p:txBody>
          <a:bodyPr wrap="square" rtlCol="0">
            <a:spAutoFit/>
          </a:bodyPr>
          <a:lstStyle/>
          <a:p>
            <a:r>
              <a:rPr lang="en-US" sz="2400" b="1" dirty="0">
                <a:solidFill>
                  <a:schemeClr val="tx2">
                    <a:lumMod val="75000"/>
                  </a:schemeClr>
                </a:solidFill>
                <a:latin typeface="Cambria Math" panose="02040503050406030204" pitchFamily="18" charset="0"/>
                <a:ea typeface="Cambria Math" panose="02040503050406030204" pitchFamily="18" charset="0"/>
              </a:rPr>
              <a:t>DATA PREPROCESSING</a:t>
            </a:r>
          </a:p>
          <a:p>
            <a:endParaRPr lang="en-US" sz="2400" dirty="0">
              <a:solidFill>
                <a:schemeClr val="accent3">
                  <a:lumMod val="40000"/>
                  <a:lumOff val="60000"/>
                </a:schemeClr>
              </a:solidFill>
            </a:endParaRPr>
          </a:p>
          <a:p>
            <a:r>
              <a:rPr lang="en-US" sz="2400" dirty="0">
                <a:solidFill>
                  <a:schemeClr val="accent3">
                    <a:lumMod val="40000"/>
                    <a:lumOff val="60000"/>
                  </a:schemeClr>
                </a:solidFill>
              </a:rPr>
              <a:t>Data preprocessing is a crucial step in machine learning. In this project:</a:t>
            </a:r>
          </a:p>
          <a:p>
            <a:pPr marL="342900" indent="-342900">
              <a:buFont typeface="Arial" panose="020B0604020202020204" pitchFamily="34" charset="0"/>
              <a:buChar char="•"/>
            </a:pPr>
            <a:r>
              <a:rPr lang="en-US" sz="2400" dirty="0">
                <a:solidFill>
                  <a:schemeClr val="accent3">
                    <a:lumMod val="40000"/>
                    <a:lumOff val="60000"/>
                  </a:schemeClr>
                </a:solidFill>
              </a:rPr>
              <a:t>Missing values are checked and handled</a:t>
            </a:r>
          </a:p>
          <a:p>
            <a:pPr marL="342900" indent="-342900">
              <a:buFont typeface="Arial" panose="020B0604020202020204" pitchFamily="34" charset="0"/>
              <a:buChar char="•"/>
            </a:pPr>
            <a:r>
              <a:rPr lang="en-US" sz="2400" dirty="0">
                <a:solidFill>
                  <a:schemeClr val="accent3">
                    <a:lumMod val="40000"/>
                    <a:lumOff val="60000"/>
                  </a:schemeClr>
                </a:solidFill>
              </a:rPr>
              <a:t>Irrelevant columns are removed</a:t>
            </a:r>
          </a:p>
          <a:p>
            <a:pPr marL="342900" indent="-342900">
              <a:buFont typeface="Arial" panose="020B0604020202020204" pitchFamily="34" charset="0"/>
              <a:buChar char="•"/>
            </a:pPr>
            <a:r>
              <a:rPr lang="en-US" sz="2400" dirty="0">
                <a:solidFill>
                  <a:schemeClr val="accent3">
                    <a:lumMod val="40000"/>
                    <a:lumOff val="60000"/>
                  </a:schemeClr>
                </a:solidFill>
              </a:rPr>
              <a:t>Categorical data is encoded if necessary</a:t>
            </a:r>
          </a:p>
          <a:p>
            <a:pPr marL="342900" indent="-342900">
              <a:buFont typeface="Arial" panose="020B0604020202020204" pitchFamily="34" charset="0"/>
              <a:buChar char="•"/>
            </a:pPr>
            <a:r>
              <a:rPr lang="en-US" sz="2400" dirty="0">
                <a:solidFill>
                  <a:schemeClr val="accent3">
                    <a:lumMod val="40000"/>
                    <a:lumOff val="60000"/>
                  </a:schemeClr>
                </a:solidFill>
              </a:rPr>
              <a:t>Features and target variables are separated</a:t>
            </a:r>
          </a:p>
          <a:p>
            <a:r>
              <a:rPr lang="en-US" sz="2400" dirty="0">
                <a:solidFill>
                  <a:schemeClr val="accent3">
                    <a:lumMod val="40000"/>
                    <a:lumOff val="60000"/>
                  </a:schemeClr>
                </a:solidFill>
              </a:rPr>
              <a:t>This step ensures the dataset is clean and suitable for model training.</a:t>
            </a:r>
          </a:p>
          <a:p>
            <a:endParaRPr lang="en-IN" sz="1350" dirty="0"/>
          </a:p>
        </p:txBody>
      </p:sp>
    </p:spTree>
    <p:extLst>
      <p:ext uri="{BB962C8B-B14F-4D97-AF65-F5344CB8AC3E}">
        <p14:creationId xmlns:p14="http://schemas.microsoft.com/office/powerpoint/2010/main" val="141511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7B9591-6F6A-5E8C-3EAD-548B6C3DBD87}"/>
              </a:ext>
            </a:extLst>
          </p:cNvPr>
          <p:cNvSpPr txBox="1"/>
          <p:nvPr/>
        </p:nvSpPr>
        <p:spPr>
          <a:xfrm>
            <a:off x="2307772" y="914399"/>
            <a:ext cx="7609114" cy="1569660"/>
          </a:xfrm>
          <a:prstGeom prst="rect">
            <a:avLst/>
          </a:prstGeom>
          <a:noFill/>
        </p:spPr>
        <p:txBody>
          <a:bodyPr wrap="square" rtlCol="0">
            <a:spAutoFit/>
          </a:bodyPr>
          <a:lstStyle/>
          <a:p>
            <a:endParaRPr lang="en-US" sz="2400" b="1" dirty="0">
              <a:solidFill>
                <a:schemeClr val="tx2">
                  <a:lumMod val="75000"/>
                </a:schemeClr>
              </a:solidFill>
              <a:latin typeface="Cambria Math" panose="02040503050406030204" pitchFamily="18" charset="0"/>
              <a:ea typeface="Cambria Math" panose="02040503050406030204" pitchFamily="18" charset="0"/>
            </a:endParaRPr>
          </a:p>
          <a:p>
            <a:r>
              <a:rPr lang="en-US" sz="2400" b="1" dirty="0">
                <a:solidFill>
                  <a:schemeClr val="tx2">
                    <a:lumMod val="75000"/>
                  </a:schemeClr>
                </a:solidFill>
                <a:latin typeface="Cambria Math" panose="02040503050406030204" pitchFamily="18" charset="0"/>
                <a:ea typeface="Cambria Math" panose="02040503050406030204" pitchFamily="18" charset="0"/>
              </a:rPr>
              <a:t>MACHINE LEARNING MODEL</a:t>
            </a:r>
          </a:p>
          <a:p>
            <a:endParaRPr lang="en-US" sz="2400" b="1" dirty="0">
              <a:solidFill>
                <a:schemeClr val="tx2">
                  <a:lumMod val="75000"/>
                </a:schemeClr>
              </a:solidFill>
              <a:latin typeface="Cambria Math" panose="02040503050406030204" pitchFamily="18" charset="0"/>
              <a:ea typeface="Cambria Math" panose="02040503050406030204" pitchFamily="18" charset="0"/>
            </a:endParaRPr>
          </a:p>
          <a:p>
            <a:endParaRPr lang="en-US" sz="2400" dirty="0">
              <a:solidFill>
                <a:schemeClr val="accent3">
                  <a:lumMod val="40000"/>
                  <a:lumOff val="60000"/>
                </a:schemeClr>
              </a:solidFill>
              <a:latin typeface="+mj-lt"/>
              <a:ea typeface="Cambria Math" panose="02040503050406030204" pitchFamily="18" charset="0"/>
            </a:endParaRPr>
          </a:p>
        </p:txBody>
      </p:sp>
      <p:graphicFrame>
        <p:nvGraphicFramePr>
          <p:cNvPr id="4" name="Table 3">
            <a:extLst>
              <a:ext uri="{FF2B5EF4-FFF2-40B4-BE49-F238E27FC236}">
                <a16:creationId xmlns:a16="http://schemas.microsoft.com/office/drawing/2014/main" id="{F53113A2-4BC9-C67E-1903-1B3FEC2133B9}"/>
              </a:ext>
            </a:extLst>
          </p:cNvPr>
          <p:cNvGraphicFramePr>
            <a:graphicFrameLocks noGrp="1"/>
          </p:cNvGraphicFramePr>
          <p:nvPr>
            <p:extLst>
              <p:ext uri="{D42A27DB-BD31-4B8C-83A1-F6EECF244321}">
                <p14:modId xmlns:p14="http://schemas.microsoft.com/office/powerpoint/2010/main" val="4223079939"/>
              </p:ext>
            </p:extLst>
          </p:nvPr>
        </p:nvGraphicFramePr>
        <p:xfrm>
          <a:off x="2048329" y="2015066"/>
          <a:ext cx="8128000" cy="3289300"/>
        </p:xfrm>
        <a:graphic>
          <a:graphicData uri="http://schemas.openxmlformats.org/drawingml/2006/table">
            <a:tbl>
              <a:tblPr firstRow="1" bandRow="1">
                <a:tableStyleId>{69012ECD-51FC-41F1-AA8D-1B2483CD663E}</a:tableStyleId>
              </a:tblPr>
              <a:tblGrid>
                <a:gridCol w="4064000">
                  <a:extLst>
                    <a:ext uri="{9D8B030D-6E8A-4147-A177-3AD203B41FA5}">
                      <a16:colId xmlns:a16="http://schemas.microsoft.com/office/drawing/2014/main" val="835409835"/>
                    </a:ext>
                  </a:extLst>
                </a:gridCol>
                <a:gridCol w="4064000">
                  <a:extLst>
                    <a:ext uri="{9D8B030D-6E8A-4147-A177-3AD203B41FA5}">
                      <a16:colId xmlns:a16="http://schemas.microsoft.com/office/drawing/2014/main" val="1526423075"/>
                    </a:ext>
                  </a:extLst>
                </a:gridCol>
              </a:tblGrid>
              <a:tr h="615890">
                <a:tc>
                  <a:txBody>
                    <a:bodyPr/>
                    <a:lstStyle/>
                    <a:p>
                      <a:pPr algn="ctr">
                        <a:lnSpc>
                          <a:spcPct val="250000"/>
                        </a:lnSpc>
                      </a:pPr>
                      <a:r>
                        <a:rPr lang="en-US" dirty="0"/>
                        <a:t>MODEL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250000"/>
                        </a:lnSpc>
                      </a:pPr>
                      <a:r>
                        <a:rPr lang="en-US" dirty="0"/>
                        <a:t>ACCURACY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986899"/>
                  </a:ext>
                </a:extLst>
              </a:tr>
              <a:tr h="615890">
                <a:tc>
                  <a:txBody>
                    <a:bodyPr/>
                    <a:lstStyle/>
                    <a:p>
                      <a:pPr>
                        <a:lnSpc>
                          <a:spcPct val="250000"/>
                        </a:lnSpc>
                      </a:pPr>
                      <a:r>
                        <a:rPr lang="en-US" dirty="0"/>
                        <a:t>Logistic Regression</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50000"/>
                        </a:lnSpc>
                      </a:pPr>
                      <a:r>
                        <a:rPr lang="en-US" dirty="0"/>
                        <a:t>78%</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3247209"/>
                  </a:ext>
                </a:extLst>
              </a:tr>
              <a:tr h="615890">
                <a:tc>
                  <a:txBody>
                    <a:bodyPr/>
                    <a:lstStyle/>
                    <a:p>
                      <a:pPr>
                        <a:lnSpc>
                          <a:spcPct val="250000"/>
                        </a:lnSpc>
                      </a:pPr>
                      <a:r>
                        <a:rPr lang="en-US" dirty="0"/>
                        <a:t>KNN model</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50000"/>
                        </a:lnSpc>
                      </a:pPr>
                      <a:r>
                        <a:rPr lang="en-US" dirty="0"/>
                        <a:t>82%</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1156189"/>
                  </a:ext>
                </a:extLst>
              </a:tr>
              <a:tr h="615890">
                <a:tc>
                  <a:txBody>
                    <a:bodyPr/>
                    <a:lstStyle/>
                    <a:p>
                      <a:pPr>
                        <a:lnSpc>
                          <a:spcPct val="250000"/>
                        </a:lnSpc>
                      </a:pPr>
                      <a:r>
                        <a:rPr lang="en-US" dirty="0"/>
                        <a:t>Decision Tree Classifier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50000"/>
                        </a:lnSpc>
                      </a:pPr>
                      <a:r>
                        <a:rPr lang="en-US" dirty="0"/>
                        <a:t>85%</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9349638"/>
                  </a:ext>
                </a:extLst>
              </a:tr>
              <a:tr h="615890">
                <a:tc>
                  <a:txBody>
                    <a:bodyPr/>
                    <a:lstStyle/>
                    <a:p>
                      <a:pPr>
                        <a:lnSpc>
                          <a:spcPct val="250000"/>
                        </a:lnSpc>
                      </a:pPr>
                      <a:r>
                        <a:rPr lang="en-US" dirty="0"/>
                        <a:t>Random Forest Classifier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50000"/>
                        </a:lnSpc>
                      </a:pPr>
                      <a:r>
                        <a:rPr lang="en-US" dirty="0"/>
                        <a:t>83%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3186997"/>
                  </a:ext>
                </a:extLst>
              </a:tr>
            </a:tbl>
          </a:graphicData>
        </a:graphic>
      </p:graphicFrame>
    </p:spTree>
    <p:extLst>
      <p:ext uri="{BB962C8B-B14F-4D97-AF65-F5344CB8AC3E}">
        <p14:creationId xmlns:p14="http://schemas.microsoft.com/office/powerpoint/2010/main" val="400276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5D0D27-41BC-889B-C9EE-8E495E4A9C50}"/>
              </a:ext>
            </a:extLst>
          </p:cNvPr>
          <p:cNvSpPr txBox="1"/>
          <p:nvPr/>
        </p:nvSpPr>
        <p:spPr>
          <a:xfrm>
            <a:off x="2348594" y="857250"/>
            <a:ext cx="7649935" cy="3785652"/>
          </a:xfrm>
          <a:prstGeom prst="rect">
            <a:avLst/>
          </a:prstGeom>
          <a:noFill/>
        </p:spPr>
        <p:txBody>
          <a:bodyPr wrap="square" rtlCol="0">
            <a:spAutoFit/>
          </a:bodyPr>
          <a:lstStyle/>
          <a:p>
            <a:endParaRPr lang="en-US" sz="2400" dirty="0">
              <a:solidFill>
                <a:schemeClr val="accent3">
                  <a:lumMod val="40000"/>
                  <a:lumOff val="60000"/>
                </a:schemeClr>
              </a:solidFill>
            </a:endParaRPr>
          </a:p>
          <a:p>
            <a:r>
              <a:rPr lang="en-US" sz="2400" b="1" dirty="0">
                <a:solidFill>
                  <a:schemeClr val="tx2">
                    <a:lumMod val="75000"/>
                  </a:schemeClr>
                </a:solidFill>
                <a:latin typeface="Cambria Math" panose="02040503050406030204" pitchFamily="18" charset="0"/>
                <a:ea typeface="Cambria Math" panose="02040503050406030204" pitchFamily="18" charset="0"/>
              </a:rPr>
              <a:t>MODEL EVALUATION</a:t>
            </a:r>
          </a:p>
          <a:p>
            <a:endParaRPr lang="en-US" sz="2400" b="1" dirty="0">
              <a:solidFill>
                <a:schemeClr val="tx2">
                  <a:lumMod val="75000"/>
                </a:schemeClr>
              </a:solidFill>
              <a:latin typeface="Cambria Math" panose="02040503050406030204" pitchFamily="18" charset="0"/>
              <a:ea typeface="Cambria Math" panose="02040503050406030204" pitchFamily="18" charset="0"/>
            </a:endParaRPr>
          </a:p>
          <a:p>
            <a:r>
              <a:rPr lang="en-US" sz="2400" dirty="0">
                <a:solidFill>
                  <a:schemeClr val="accent3">
                    <a:lumMod val="40000"/>
                    <a:lumOff val="60000"/>
                  </a:schemeClr>
                </a:solidFill>
              </a:rPr>
              <a:t>Model performance is evaluated using:</a:t>
            </a:r>
          </a:p>
          <a:p>
            <a:pPr marL="342900" indent="-342900">
              <a:buFont typeface="Arial" panose="020B0604020202020204" pitchFamily="34" charset="0"/>
              <a:buChar char="•"/>
            </a:pPr>
            <a:r>
              <a:rPr lang="en-US" sz="2400" dirty="0">
                <a:solidFill>
                  <a:schemeClr val="accent3">
                    <a:lumMod val="40000"/>
                    <a:lumOff val="60000"/>
                  </a:schemeClr>
                </a:solidFill>
              </a:rPr>
              <a:t>Accuracy Score</a:t>
            </a:r>
          </a:p>
          <a:p>
            <a:pPr marL="342900" indent="-342900">
              <a:buFont typeface="Arial" panose="020B0604020202020204" pitchFamily="34" charset="0"/>
              <a:buChar char="•"/>
            </a:pPr>
            <a:r>
              <a:rPr lang="en-US" sz="2400" dirty="0">
                <a:solidFill>
                  <a:schemeClr val="accent3">
                    <a:lumMod val="40000"/>
                    <a:lumOff val="60000"/>
                  </a:schemeClr>
                </a:solidFill>
              </a:rPr>
              <a:t>Cross Validation</a:t>
            </a:r>
          </a:p>
          <a:p>
            <a:r>
              <a:rPr lang="en-US" sz="2400" dirty="0">
                <a:solidFill>
                  <a:schemeClr val="accent3">
                    <a:lumMod val="40000"/>
                    <a:lumOff val="60000"/>
                  </a:schemeClr>
                </a:solidFill>
              </a:rPr>
              <a:t>Cross validation ensures the model performs consistently and avoids overfitting. The model with the highest accuracy and stability is selected as the final model.</a:t>
            </a:r>
          </a:p>
        </p:txBody>
      </p:sp>
    </p:spTree>
    <p:extLst>
      <p:ext uri="{BB962C8B-B14F-4D97-AF65-F5344CB8AC3E}">
        <p14:creationId xmlns:p14="http://schemas.microsoft.com/office/powerpoint/2010/main" val="1423832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AADAF69-3FDB-5B1D-7762-C2C1B9E6BE77}"/>
              </a:ext>
            </a:extLst>
          </p:cNvPr>
          <p:cNvSpPr txBox="1"/>
          <p:nvPr/>
        </p:nvSpPr>
        <p:spPr>
          <a:xfrm>
            <a:off x="2275114" y="914401"/>
            <a:ext cx="6106886" cy="4039567"/>
          </a:xfrm>
          <a:prstGeom prst="rect">
            <a:avLst/>
          </a:prstGeom>
          <a:noFill/>
        </p:spPr>
        <p:txBody>
          <a:bodyPr wrap="square">
            <a:spAutoFit/>
          </a:bodyPr>
          <a:lstStyle/>
          <a:p>
            <a:endParaRPr lang="en-US" sz="2400" b="1" dirty="0">
              <a:solidFill>
                <a:schemeClr val="tx2">
                  <a:lumMod val="75000"/>
                </a:schemeClr>
              </a:solidFill>
              <a:latin typeface="Cambria Math" panose="02040503050406030204" pitchFamily="18" charset="0"/>
              <a:ea typeface="Cambria Math" panose="02040503050406030204" pitchFamily="18" charset="0"/>
            </a:endParaRPr>
          </a:p>
          <a:p>
            <a:r>
              <a:rPr lang="en-US" sz="2700" b="1" dirty="0">
                <a:solidFill>
                  <a:schemeClr val="tx2">
                    <a:lumMod val="75000"/>
                  </a:schemeClr>
                </a:solidFill>
                <a:latin typeface="Cambria Math" panose="02040503050406030204" pitchFamily="18" charset="0"/>
                <a:ea typeface="Cambria Math" panose="02040503050406030204" pitchFamily="18" charset="0"/>
              </a:rPr>
              <a:t>Conclusion</a:t>
            </a:r>
          </a:p>
          <a:p>
            <a:endParaRPr lang="en-US" sz="1350" dirty="0"/>
          </a:p>
          <a:p>
            <a:r>
              <a:rPr lang="en-US" sz="2400" dirty="0">
                <a:solidFill>
                  <a:schemeClr val="accent3">
                    <a:lumMod val="40000"/>
                    <a:lumOff val="60000"/>
                  </a:schemeClr>
                </a:solidFill>
              </a:rPr>
              <a:t>This project demonstrates the effective use of machine learning techniques to analyze social media user data. Proper preprocessing, visualization, model selection, and evaluation contribute to accurate predictions. The project highlights how machine learning can be applied to real-world data analysis problems</a:t>
            </a:r>
            <a:endParaRPr lang="en-IN" sz="2400" dirty="0">
              <a:solidFill>
                <a:schemeClr val="accent3">
                  <a:lumMod val="40000"/>
                  <a:lumOff val="60000"/>
                </a:schemeClr>
              </a:solidFill>
            </a:endParaRPr>
          </a:p>
        </p:txBody>
      </p:sp>
    </p:spTree>
    <p:extLst>
      <p:ext uri="{BB962C8B-B14F-4D97-AF65-F5344CB8AC3E}">
        <p14:creationId xmlns:p14="http://schemas.microsoft.com/office/powerpoint/2010/main" val="3181664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D7EAF8-8DD5-9371-C68B-7E12D7962D7F}"/>
              </a:ext>
            </a:extLst>
          </p:cNvPr>
          <p:cNvSpPr txBox="1"/>
          <p:nvPr/>
        </p:nvSpPr>
        <p:spPr>
          <a:xfrm>
            <a:off x="1034144" y="0"/>
            <a:ext cx="10243456" cy="3416320"/>
          </a:xfrm>
          <a:prstGeom prst="rect">
            <a:avLst/>
          </a:prstGeom>
          <a:noFill/>
        </p:spPr>
        <p:txBody>
          <a:bodyPr wrap="square" rtlCol="0">
            <a:spAutoFit/>
          </a:bodyPr>
          <a:lstStyle/>
          <a:p>
            <a:pPr algn="ctr"/>
            <a:endParaRPr lang="en-US" sz="3600" b="1" dirty="0">
              <a:solidFill>
                <a:schemeClr val="tx2">
                  <a:lumMod val="75000"/>
                </a:schemeClr>
              </a:solidFill>
              <a:latin typeface="Cambria Math" panose="02040503050406030204" pitchFamily="18" charset="0"/>
              <a:ea typeface="Cambria Math" panose="02040503050406030204" pitchFamily="18" charset="0"/>
            </a:endParaRPr>
          </a:p>
          <a:p>
            <a:pPr algn="ctr"/>
            <a:endParaRPr lang="en-US" sz="3600" b="1" dirty="0">
              <a:solidFill>
                <a:schemeClr val="tx2">
                  <a:lumMod val="75000"/>
                </a:schemeClr>
              </a:solidFill>
              <a:latin typeface="Cambria Math" panose="02040503050406030204" pitchFamily="18" charset="0"/>
              <a:ea typeface="Cambria Math" panose="02040503050406030204" pitchFamily="18" charset="0"/>
            </a:endParaRPr>
          </a:p>
          <a:p>
            <a:pPr algn="ctr"/>
            <a:endParaRPr lang="en-US" sz="3600" b="1" dirty="0">
              <a:solidFill>
                <a:schemeClr val="tx2">
                  <a:lumMod val="75000"/>
                </a:schemeClr>
              </a:solidFill>
              <a:latin typeface="Cambria Math" panose="02040503050406030204" pitchFamily="18" charset="0"/>
              <a:ea typeface="Cambria Math" panose="02040503050406030204" pitchFamily="18" charset="0"/>
            </a:endParaRPr>
          </a:p>
          <a:p>
            <a:pPr algn="ctr"/>
            <a:endParaRPr lang="en-US" sz="3600" b="1" dirty="0">
              <a:solidFill>
                <a:schemeClr val="tx2">
                  <a:lumMod val="75000"/>
                </a:schemeClr>
              </a:solidFill>
              <a:latin typeface="Cambria Math" panose="02040503050406030204" pitchFamily="18" charset="0"/>
              <a:ea typeface="Cambria Math" panose="02040503050406030204" pitchFamily="18" charset="0"/>
            </a:endParaRPr>
          </a:p>
          <a:p>
            <a:pPr algn="ctr"/>
            <a:endParaRPr lang="en-US" sz="3600" b="1" dirty="0">
              <a:solidFill>
                <a:schemeClr val="tx2">
                  <a:lumMod val="75000"/>
                </a:schemeClr>
              </a:solidFill>
              <a:latin typeface="Cambria Math" panose="02040503050406030204" pitchFamily="18" charset="0"/>
              <a:ea typeface="Cambria Math" panose="02040503050406030204" pitchFamily="18" charset="0"/>
            </a:endParaRPr>
          </a:p>
          <a:p>
            <a:pPr algn="ctr"/>
            <a:r>
              <a:rPr lang="en-US" sz="3600" b="1" dirty="0">
                <a:solidFill>
                  <a:schemeClr val="tx2">
                    <a:lumMod val="75000"/>
                  </a:schemeClr>
                </a:solidFill>
                <a:latin typeface="Cambria Math" panose="02040503050406030204" pitchFamily="18" charset="0"/>
                <a:ea typeface="Cambria Math" panose="02040503050406030204" pitchFamily="18" charset="0"/>
              </a:rPr>
              <a:t>THANK YOU</a:t>
            </a:r>
            <a:endParaRPr lang="en-IN" sz="3600" b="1" dirty="0">
              <a:solidFill>
                <a:schemeClr val="tx2">
                  <a:lumMod val="75000"/>
                </a:schemeClr>
              </a:solidFill>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518752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374</TotalTime>
  <Words>373</Words>
  <Application>Microsoft Office PowerPoint</Application>
  <PresentationFormat>Widescreen</PresentationFormat>
  <Paragraphs>72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Californian FB</vt:lpstr>
      <vt:lpstr>Cambria Math</vt:lpstr>
      <vt:lpstr>MS Shell Dlg 2</vt:lpstr>
      <vt:lpstr>Wingdings</vt:lpstr>
      <vt:lpstr>Wingdings 3</vt:lpstr>
      <vt:lpstr>Madison</vt:lpstr>
      <vt:lpstr>PREDICTION OF SOCIAL MEDIA USER BEHAVIOR  </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mevinapdm@gmail.com</dc:creator>
  <cp:lastModifiedBy>mevinapdm@gmail.com</cp:lastModifiedBy>
  <cp:revision>4</cp:revision>
  <dcterms:created xsi:type="dcterms:W3CDTF">2025-12-11T06:40:59Z</dcterms:created>
  <dcterms:modified xsi:type="dcterms:W3CDTF">2026-01-14T08:25:58Z</dcterms:modified>
</cp:coreProperties>
</file>